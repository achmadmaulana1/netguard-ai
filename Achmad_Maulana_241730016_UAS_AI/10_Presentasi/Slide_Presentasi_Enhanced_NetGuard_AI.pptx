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4.xml"/><Relationship Id="rId7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slide" Target="slide8.xml"/><Relationship Id="rId4" Type="http://schemas.openxmlformats.org/officeDocument/2006/relationships/slide" Target="slide6.xml"/><Relationship Id="rId9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9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0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1.xml"/><Relationship Id="rId4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3.xml"/><Relationship Id="rId4" Type="http://schemas.openxmlformats.org/officeDocument/2006/relationships/slide" Target="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13716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011680" y="164591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023360" y="315467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35040" y="466344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0" y="13716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5212080" cy="7772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3300" b="1">
                <a:solidFill>
                  <a:srgbClr val="0B1220"/>
                </a:solidFill>
              </a:rPr>
              <a:t>NETGUARD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Predictive Network Failure &amp; Anomaly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41656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dirty="0">
                <a:solidFill>
                  <a:srgbClr val="94A3B8"/>
                </a:solidFill>
              </a:rPr>
              <a:t>AI-based Network Anomaly Detection | UAS Artificial Intelligence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22860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700" b="1">
                <a:solidFill>
                  <a:srgbClr val="F8FAFC"/>
                </a:solidFill>
              </a:rPr>
              <a:t>Achmad Maulana
241730016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965960"/>
            <a:ext cx="2971800" cy="685800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1">
                <a:solidFill>
                  <a:srgbClr val="F8FAFC"/>
                </a:solidFill>
              </a:rPr>
              <a:t>Informatika
UIN Sultan Maulana Hasanuddin Banten</a:t>
            </a:r>
          </a:p>
        </p:txBody>
      </p:sp>
      <p:pic>
        <p:nvPicPr>
          <p:cNvPr id="12" name="Picture 11" descr="research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80360"/>
            <a:ext cx="10698480" cy="2788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01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164591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377440" y="315467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389120" y="466344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0" y="13716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0" y="164591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Agenda: Dari Gap ke Demo Sistem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Klik tombol untuk lompat ke bagian penting presentasi</a:t>
            </a:r>
          </a:p>
        </p:txBody>
      </p:sp>
      <p:sp>
        <p:nvSpPr>
          <p:cNvPr id="9" name="Rounded Rectangle 8">
            <a:hlinkClick r:id="rId2" action="ppaction://hlinksldjump"/>
          </p:cNvPr>
          <p:cNvSpPr/>
          <p:nvPr/>
        </p:nvSpPr>
        <p:spPr>
          <a:xfrm>
            <a:off x="777240" y="1417320"/>
            <a:ext cx="3063240" cy="132588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2200" b="1">
                <a:solidFill>
                  <a:srgbClr val="0B1220"/>
                </a:solidFill>
              </a:rPr>
              <a:t>1
Problem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4480559" y="1417320"/>
            <a:ext cx="3063240" cy="132588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2200" b="1">
                <a:solidFill>
                  <a:srgbClr val="0B1220"/>
                </a:solidFill>
              </a:rPr>
              <a:t>2
Research Gap</a:t>
            </a:r>
          </a:p>
        </p:txBody>
      </p:sp>
      <p:sp>
        <p:nvSpPr>
          <p:cNvPr id="11" name="Rounded Rectangle 10">
            <a:hlinkClick r:id="rId4" action="ppaction://hlinksldjump"/>
          </p:cNvPr>
          <p:cNvSpPr/>
          <p:nvPr/>
        </p:nvSpPr>
        <p:spPr>
          <a:xfrm>
            <a:off x="8183879" y="1417320"/>
            <a:ext cx="3063240" cy="132588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2200" b="1">
                <a:solidFill>
                  <a:srgbClr val="0B1220"/>
                </a:solidFill>
              </a:rPr>
              <a:t>3
Method</a:t>
            </a:r>
          </a:p>
        </p:txBody>
      </p:sp>
      <p:sp>
        <p:nvSpPr>
          <p:cNvPr id="12" name="Rounded Rectangle 11">
            <a:hlinkClick r:id="rId5" action="ppaction://hlinksldjump"/>
          </p:cNvPr>
          <p:cNvSpPr/>
          <p:nvPr/>
        </p:nvSpPr>
        <p:spPr>
          <a:xfrm>
            <a:off x="777240" y="3474720"/>
            <a:ext cx="3063240" cy="132588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2200" b="1">
                <a:solidFill>
                  <a:srgbClr val="0B1220"/>
                </a:solidFill>
              </a:rPr>
              <a:t>4
Experiment</a:t>
            </a:r>
          </a:p>
        </p:txBody>
      </p:sp>
      <p:sp>
        <p:nvSpPr>
          <p:cNvPr id="13" name="Rounded Rectangle 12">
            <a:hlinkClick r:id="rId6" action="ppaction://hlinksldjump"/>
          </p:cNvPr>
          <p:cNvSpPr/>
          <p:nvPr/>
        </p:nvSpPr>
        <p:spPr>
          <a:xfrm>
            <a:off x="4480559" y="3474720"/>
            <a:ext cx="3063240" cy="132588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2200" b="1">
                <a:solidFill>
                  <a:srgbClr val="0B1220"/>
                </a:solidFill>
              </a:rPr>
              <a:t>5
Dashboard</a:t>
            </a:r>
          </a:p>
        </p:txBody>
      </p:sp>
      <p:sp>
        <p:nvSpPr>
          <p:cNvPr id="14" name="Rounded Rectangle 13">
            <a:hlinkClick r:id="rId7" action="ppaction://hlinksldjump"/>
          </p:cNvPr>
          <p:cNvSpPr/>
          <p:nvPr/>
        </p:nvSpPr>
        <p:spPr>
          <a:xfrm>
            <a:off x="8183879" y="3474720"/>
            <a:ext cx="3063240" cy="132588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2200" b="1">
                <a:solidFill>
                  <a:srgbClr val="0B1220"/>
                </a:solidFill>
              </a:rPr>
              <a:t>6
Defense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623560"/>
            <a:ext cx="987552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1">
                <a:solidFill>
                  <a:srgbClr val="F8FAFC"/>
                </a:solidFill>
              </a:rPr>
              <a:t>Navigasi interaktif aktif: setiap tombol agenda mengarah ke slide terkait.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02</a:t>
            </a:r>
          </a:p>
        </p:txBody>
      </p:sp>
      <p:sp>
        <p:nvSpPr>
          <p:cNvPr id="17" name="Rounded Rectangle 16">
            <a:hlinkClick r:id="rId8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8" name="Rounded Rectangle 17">
            <a:hlinkClick r:id="rId9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9" name="Rounded Rectangle 18">
            <a:hlinkClick r:id="rId2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315467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743200" y="466344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886200" y="132588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66560" y="164591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0" y="315467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Masalah: Admin Jaringan Butuh Deteksi Cepat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dirty="0">
                <a:solidFill>
                  <a:srgbClr val="94A3B8"/>
                </a:solidFill>
              </a:rPr>
              <a:t>Traffic abnormal </a:t>
            </a:r>
            <a:r>
              <a:rPr sz="1050" dirty="0" err="1">
                <a:solidFill>
                  <a:srgbClr val="94A3B8"/>
                </a:solidFill>
              </a:rPr>
              <a:t>sulit</a:t>
            </a:r>
            <a:r>
              <a:rPr sz="1050" dirty="0">
                <a:solidFill>
                  <a:srgbClr val="94A3B8"/>
                </a:solidFill>
              </a:rPr>
              <a:t> </a:t>
            </a:r>
            <a:r>
              <a:rPr sz="1050" dirty="0" err="1">
                <a:solidFill>
                  <a:srgbClr val="94A3B8"/>
                </a:solidFill>
              </a:rPr>
              <a:t>terlihat</a:t>
            </a:r>
            <a:r>
              <a:rPr sz="1050" dirty="0">
                <a:solidFill>
                  <a:srgbClr val="94A3B8"/>
                </a:solidFill>
              </a:rPr>
              <a:t> </a:t>
            </a:r>
            <a:r>
              <a:rPr sz="1050" dirty="0" err="1">
                <a:solidFill>
                  <a:srgbClr val="94A3B8"/>
                </a:solidFill>
              </a:rPr>
              <a:t>jika</a:t>
            </a:r>
            <a:r>
              <a:rPr sz="1050" dirty="0">
                <a:solidFill>
                  <a:srgbClr val="94A3B8"/>
                </a:solidFill>
              </a:rPr>
              <a:t> </a:t>
            </a:r>
            <a:r>
              <a:rPr sz="1050" dirty="0" err="1">
                <a:solidFill>
                  <a:srgbClr val="94A3B8"/>
                </a:solidFill>
              </a:rPr>
              <a:t>hanya</a:t>
            </a:r>
            <a:r>
              <a:rPr sz="1050" dirty="0">
                <a:solidFill>
                  <a:srgbClr val="94A3B8"/>
                </a:solidFill>
              </a:rPr>
              <a:t> </a:t>
            </a:r>
            <a:r>
              <a:rPr sz="1050" dirty="0" err="1">
                <a:solidFill>
                  <a:srgbClr val="94A3B8"/>
                </a:solidFill>
              </a:rPr>
              <a:t>mengandalkan</a:t>
            </a:r>
            <a:r>
              <a:rPr sz="1050" dirty="0">
                <a:solidFill>
                  <a:srgbClr val="94A3B8"/>
                </a:solidFill>
              </a:rPr>
              <a:t> </a:t>
            </a:r>
            <a:r>
              <a:rPr sz="1050" dirty="0" err="1">
                <a:solidFill>
                  <a:srgbClr val="94A3B8"/>
                </a:solidFill>
              </a:rPr>
              <a:t>inspeksi</a:t>
            </a:r>
            <a:r>
              <a:rPr sz="1050" dirty="0">
                <a:solidFill>
                  <a:srgbClr val="94A3B8"/>
                </a:solidFill>
              </a:rPr>
              <a:t> manual log router/firewall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3017520" cy="41148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1">
                <a:solidFill>
                  <a:srgbClr val="0B1220"/>
                </a:solidFill>
              </a:rPr>
              <a:t>Volume traffic naik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234440"/>
            <a:ext cx="7040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0">
                <a:solidFill>
                  <a:srgbClr val="F8FAFC"/>
                </a:solidFill>
              </a:rPr>
              <a:t>Log cepat menumpuk dan sulit dibaca manual.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3017520" cy="41148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1">
                <a:solidFill>
                  <a:srgbClr val="0B1220"/>
                </a:solidFill>
              </a:rPr>
              <a:t>Serangan makin variatif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286000"/>
            <a:ext cx="7040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0">
                <a:solidFill>
                  <a:srgbClr val="F8FAFC"/>
                </a:solidFill>
              </a:rPr>
              <a:t>DoS, PortScan, Botnet, Brute Force memiliki pola berbeda.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3017520" cy="41148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1">
                <a:solidFill>
                  <a:srgbClr val="0B1220"/>
                </a:solidFill>
              </a:rPr>
              <a:t>Resource mahasiswa terbatas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337560"/>
            <a:ext cx="7040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0">
                <a:solidFill>
                  <a:srgbClr val="F8FAFC"/>
                </a:solidFill>
              </a:rPr>
              <a:t>Laptop biasa, tanpa GPU dan tanpa API berbayar.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3017520" cy="41148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1">
                <a:solidFill>
                  <a:srgbClr val="0B1220"/>
                </a:solidFill>
              </a:rPr>
              <a:t>Hasil riset perlu bukti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4389120"/>
            <a:ext cx="70408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00" b="0">
                <a:solidFill>
                  <a:srgbClr val="F8FAFC"/>
                </a:solidFill>
              </a:rPr>
              <a:t>Butuh metrik, artefak, dan dashboard demo.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03</a:t>
            </a:r>
          </a:p>
        </p:txBody>
      </p:sp>
      <p:sp>
        <p:nvSpPr>
          <p:cNvPr id="18" name="Rounded Rectangle 17">
            <a:hlinkClick r:id="rId2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9" name="Rounded Rectangle 18">
            <a:hlinkClick r:id="rId2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20" name="Rounded Rectangle 19">
            <a:hlinkClick r:id="rId3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spli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97280" y="466344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217920" y="1010363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120640" y="164591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320" y="315467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0" y="466344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Research Gap yang Diambil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Gap diambil dari pola literatur: model akurat sering belum dikemas menjadi monitoring edukatif ringan</a:t>
            </a:r>
          </a:p>
        </p:txBody>
      </p:sp>
      <p:pic>
        <p:nvPicPr>
          <p:cNvPr id="9" name="Picture 8" descr="deploymen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629400" cy="2788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43800" y="1097280"/>
            <a:ext cx="3886200" cy="5029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050" b="1">
                <a:solidFill>
                  <a:srgbClr val="0B1220"/>
                </a:solidFill>
              </a:rPr>
              <a:t>Gap 1: Banyak paper fokus metrik, bukan dashboard yang langsung dipahami admin pemula.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874519"/>
            <a:ext cx="3886200" cy="5029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050" b="1">
                <a:solidFill>
                  <a:srgbClr val="0B1220"/>
                </a:solidFill>
              </a:rPr>
              <a:t>Gap 2: Implementasi sering berat untuk mahasiswa/laptop biasa.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651760"/>
            <a:ext cx="3886200" cy="50292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050" b="1">
                <a:solidFill>
                  <a:srgbClr val="0B1220"/>
                </a:solidFill>
              </a:rPr>
              <a:t>Gap 3: Risk score dan rekomendasi aksi belum selalu terintegrasi.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429000"/>
            <a:ext cx="3886200" cy="50292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050" b="1">
                <a:solidFill>
                  <a:srgbClr val="0B1220"/>
                </a:solidFill>
              </a:rPr>
              <a:t>Gap 4: Artefak reproduksi sering tidak lengkap.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04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6" name="Rounded Rectangle 15">
            <a:hlinkClick r:id="rId4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94360" y="169164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474720" y="164591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0" y="315467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0" y="466344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0" y="13716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Novelty: ML + Dashboard Edukatif + Risk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Kebaruan utama bukan sekadar algoritma, tetapi integrasi pipeline penelitian menjadi alat demo yang dapat direproduksi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71600"/>
            <a:ext cx="2468880" cy="5029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B1220"/>
                </a:solidFill>
              </a:rPr>
              <a:t>Main Novelty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98448"/>
            <a:ext cx="76809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0">
                <a:solidFill>
                  <a:srgbClr val="F8FAFC"/>
                </a:solidFill>
              </a:rPr>
              <a:t>Integrasi anomaly detection berbasis machine learning dengan dashboard monitoring edukatif yang ringan.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2468880" cy="50292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B1220"/>
                </a:solidFill>
              </a:rPr>
              <a:t>Secondary Novelty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715768"/>
            <a:ext cx="76809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0">
                <a:solidFill>
                  <a:srgbClr val="F8FAFC"/>
                </a:solidFill>
              </a:rPr>
              <a:t>Risk classification otomatis Low/Medium/High dengan rekomendasi tindakan praktis.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06240"/>
            <a:ext cx="2468880" cy="5029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B1220"/>
                </a:solidFill>
              </a:rPr>
              <a:t>Educational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4133087"/>
            <a:ext cx="76809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400" b="0">
                <a:solidFill>
                  <a:srgbClr val="F8FAFC"/>
                </a:solidFill>
              </a:rPr>
              <a:t>Cocok untuk mahasiswa TKJ/Informatika yang ingin memahami AI dan jaringan secara implementatif.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05</a:t>
            </a:r>
          </a:p>
        </p:txBody>
      </p:sp>
      <p:sp>
        <p:nvSpPr>
          <p:cNvPr id="16" name="Rounded Rectangle 15">
            <a:hlinkClick r:id="rId2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8" name="Rounded Rectangle 17">
            <a:hlinkClick r:id="rId4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828800" y="164591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840480" y="315467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852160" y="466344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63840" y="13716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75520" y="164591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Research Method: Pipeline NetGuard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RM1 implementasi model ML; RM2 integrasi hasil ke dashboard dan artefak riset</a:t>
            </a:r>
          </a:p>
        </p:txBody>
      </p:sp>
      <p:pic>
        <p:nvPicPr>
          <p:cNvPr id="9" name="Picture 8" descr="research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2926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" y="4709160"/>
            <a:ext cx="5212080" cy="7315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1">
                <a:solidFill>
                  <a:srgbClr val="0B1220"/>
                </a:solidFill>
              </a:rPr>
              <a:t>RM1: Membangun dan membandingkan Logistic Regression, Decision Tree, dan Random Forest pada data CICIDS2017-style.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709160"/>
            <a:ext cx="5212080" cy="7315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1">
                <a:solidFill>
                  <a:srgbClr val="0B1220"/>
                </a:solidFill>
              </a:rPr>
              <a:t>RM2: Mengintegrasikan model terbaik ke dashboard Flask dengan risk score dan rekomendasi tindakan.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06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4" name="Rounded Rectangle 13">
            <a:hlinkClick r:id="rId4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5" name="Rounded Rectangle 14">
            <a:hlinkClick r:id="rId5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194560" y="315467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206240" y="466344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994669" y="-484632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164591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41280" y="315467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Dataset: CICIDS2017 dan Smoke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Dataset resmi dari Canadian Institute for Cybersecurity, UNB; sample dipakai untuk validasi pipeline Windows</a:t>
            </a:r>
          </a:p>
        </p:txBody>
      </p:sp>
      <p:pic>
        <p:nvPicPr>
          <p:cNvPr id="9" name="Picture 8" descr="dataset_distribu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715000" cy="338328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29400" y="1325880"/>
          <a:ext cx="47548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</a:rPr>
                        <a:t>Aspek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220"/>
                          </a:solidFill>
                        </a:rPr>
                        <a:t>Isi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Sumber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UNB CICIDS2017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Kelas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Normal vs Anomaly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Smoke test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</a:rPr>
                        <a:t>13 raw, 12 processed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F8FAFC"/>
                          </a:solidFill>
                        </a:rPr>
                        <a:t>Final </a:t>
                      </a:r>
                      <a:r>
                        <a:rPr sz="1050" b="0" dirty="0" err="1">
                          <a:solidFill>
                            <a:srgbClr val="F8FAFC"/>
                          </a:solidFill>
                        </a:rPr>
                        <a:t>riset</a:t>
                      </a:r>
                      <a:endParaRPr sz="1050" b="0" dirty="0">
                        <a:solidFill>
                          <a:srgbClr val="F8FAFC"/>
                        </a:solidFill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 err="1">
                          <a:solidFill>
                            <a:srgbClr val="F8FAFC"/>
                          </a:solidFill>
                        </a:rPr>
                        <a:t>Gunakan</a:t>
                      </a:r>
                      <a:r>
                        <a:rPr sz="1050" b="0" dirty="0">
                          <a:solidFill>
                            <a:srgbClr val="F8FAFC"/>
                          </a:solidFill>
                        </a:rPr>
                        <a:t> CSV CICIDS2017 </a:t>
                      </a:r>
                      <a:r>
                        <a:rPr sz="1050" b="0" dirty="0" err="1">
                          <a:solidFill>
                            <a:srgbClr val="F8FAFC"/>
                          </a:solidFill>
                        </a:rPr>
                        <a:t>asli</a:t>
                      </a:r>
                      <a:endParaRPr sz="1050" b="0" dirty="0">
                        <a:solidFill>
                          <a:srgbClr val="F8FAFC"/>
                        </a:solidFill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07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3" name="Rounded Rectangle 12">
            <a:hlinkClick r:id="rId4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spli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560320" y="466344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89560" y="-276188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0" y="164591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0" y="315467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07040" y="466344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Eksperimen: Tiga Model Pembanding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Best model dipilih dengan prioritas F1-score, lalu Recall, lalu Accuracy</a:t>
            </a:r>
          </a:p>
        </p:txBody>
      </p:sp>
      <p:pic>
        <p:nvPicPr>
          <p:cNvPr id="9" name="Picture 8" descr="model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766560" cy="37490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1234440"/>
            <a:ext cx="3566160" cy="77724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B1220"/>
                </a:solidFill>
              </a:rPr>
              <a:t>Logistic Regression
F1 1.00 | Recall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468880"/>
            <a:ext cx="3566160" cy="77724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B1220"/>
                </a:solidFill>
              </a:rPr>
              <a:t>Decision Tree
F1 1.00 | Recall 1.00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703320"/>
            <a:ext cx="3566160" cy="77724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0B1220"/>
                </a:solidFill>
              </a:rPr>
              <a:t>Random Forest
F1 1.00 | Recall 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08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5" name="Rounded Rectangle 14">
            <a:hlinkClick r:id="rId4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6" name="Rounded Rectangle 15">
            <a:hlinkClick r:id="rId5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" y="-22860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937760" y="164591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949440" y="315467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0" y="466344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13716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Confusion Matrix sebagai Bukti Evaluasi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Evaluasi tidak hanya angka tunggal; matrix menunjukkan benar-salah prediksi setiap kelas</a:t>
            </a:r>
          </a:p>
        </p:txBody>
      </p:sp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51560"/>
            <a:ext cx="566928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1143000"/>
            <a:ext cx="4251960" cy="694944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50" b="1">
                <a:solidFill>
                  <a:srgbClr val="0B1220"/>
                </a:solidFill>
              </a:rPr>
              <a:t>True Normal
Traffic normal diprediksi normal.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167128"/>
            <a:ext cx="4251960" cy="694944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50" b="1">
                <a:solidFill>
                  <a:srgbClr val="0B1220"/>
                </a:solidFill>
              </a:rPr>
              <a:t>False Alarm
Normal diprediksi anomaly.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191256"/>
            <a:ext cx="4251960" cy="694944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50" b="1">
                <a:solidFill>
                  <a:srgbClr val="0B1220"/>
                </a:solidFill>
              </a:rPr>
              <a:t>Missed Attack
Anomaly diprediksi normal.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4215384"/>
            <a:ext cx="4251960" cy="694944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50" b="1">
                <a:solidFill>
                  <a:srgbClr val="0B1220"/>
                </a:solidFill>
              </a:rPr>
              <a:t>True Anomaly
Traffic anomaly terdeteksi.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09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6" name="Rounded Rectangle 15">
            <a:hlinkClick r:id="rId4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91840" y="164591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315467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466344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3716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38560" y="164591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Risk Score: Angka yang Bisa Ditindaklanjuti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Risk level dihitung dari anomaly ratio agar hasil model mudah dipakai admin jaringan pemula</a:t>
            </a:r>
          </a:p>
        </p:txBody>
      </p:sp>
      <p:pic>
        <p:nvPicPr>
          <p:cNvPr id="9" name="Picture 8" descr="risk_score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3000"/>
            <a:ext cx="5760720" cy="338328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29400" y="1325880"/>
          <a:ext cx="4983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B1220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B1220"/>
                          </a:solidFill>
                        </a:rPr>
                        <a:t>Aturan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0B1220"/>
                          </a:solidFill>
                        </a:rPr>
                        <a:t>Aksi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&lt; 10%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Continue monitoring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10-30%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Inspect sources and firewall logs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&gt;= 30%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F8FAFC"/>
                          </a:solidFill>
                        </a:rPr>
                        <a:t>Investigate and isolate suspicious hosts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10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3" name="Rounded Rectangle 12">
            <a:hlinkClick r:id="rId4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0" y="315467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0" y="466344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680960" y="13716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92640" y="164591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74320" y="315467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Dashboard Demo: Monitoring Tanpa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Flask membaca metrics.json dan CSV hasil eksperimen agar ringan untuk laptop mahasiswa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3063240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700" b="1">
                <a:solidFill>
                  <a:srgbClr val="0B1220"/>
                </a:solidFill>
              </a:rPr>
              <a:t>12
Total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234440"/>
            <a:ext cx="3063240" cy="9144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700" b="1">
                <a:solidFill>
                  <a:srgbClr val="0B1220"/>
                </a:solidFill>
              </a:rPr>
              <a:t>6
Normal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34440"/>
            <a:ext cx="3063240" cy="91440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700" b="1">
                <a:solidFill>
                  <a:srgbClr val="0B1220"/>
                </a:solidFill>
              </a:rPr>
              <a:t>6
Anomaly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3063240" cy="91440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700" b="1">
                <a:solidFill>
                  <a:srgbClr val="0B1220"/>
                </a:solidFill>
              </a:rPr>
              <a:t>1.00
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560320"/>
            <a:ext cx="3063240" cy="91440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700" b="1">
                <a:solidFill>
                  <a:srgbClr val="0B1220"/>
                </a:solidFill>
              </a:rPr>
              <a:t>Logistic Regression
Best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560320"/>
            <a:ext cx="3063240" cy="91440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700" b="1">
                <a:solidFill>
                  <a:srgbClr val="0B1220"/>
                </a:solidFill>
              </a:rPr>
              <a:t>High
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54880"/>
            <a:ext cx="102412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700" b="1">
                <a:solidFill>
                  <a:srgbClr val="F8FAFC"/>
                </a:solidFill>
              </a:rPr>
              <a:t>Workflow demo: Upload Dataset -&gt; Train Model -&gt; Predict New Data -&gt; View Research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11</a:t>
            </a:r>
          </a:p>
        </p:txBody>
      </p:sp>
      <p:sp>
        <p:nvSpPr>
          <p:cNvPr id="17" name="Rounded Rectangle 16">
            <a:hlinkClick r:id="rId2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8" name="Rounded Rectangle 17">
            <a:hlinkClick r:id="rId3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9" name="Rounded Rectangle 18">
            <a:hlinkClick r:id="rId4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spli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23360" y="466344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035040" y="13716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164591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3154679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4663440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Deployment Plan: Low-Budget ke Premium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Flask tetap menjadi demo utama; Next.js/Tailwind/Framer disiapkan untuk bukti bonus deployment modern</a:t>
            </a:r>
          </a:p>
        </p:txBody>
      </p:sp>
      <p:pic>
        <p:nvPicPr>
          <p:cNvPr id="9" name="Picture 8" descr="deploymen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6583680" cy="2926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143000"/>
            <a:ext cx="3794760" cy="566928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150" b="1">
                <a:solidFill>
                  <a:srgbClr val="0B1220"/>
                </a:solidFill>
              </a:rPr>
              <a:t>Frontend
Next.js + Tailwind + Framer Motion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011680"/>
            <a:ext cx="3794760" cy="566928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150" b="1">
                <a:solidFill>
                  <a:srgbClr val="0B1220"/>
                </a:solidFill>
              </a:rPr>
              <a:t>Backend
Flask sekarang, REST API future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80360"/>
            <a:ext cx="3794760" cy="566928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150" b="1">
                <a:solidFill>
                  <a:srgbClr val="0B1220"/>
                </a:solidFill>
              </a:rPr>
              <a:t>Database
PostgreSQL + Prisma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749039"/>
            <a:ext cx="3794760" cy="566928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150" b="1">
                <a:solidFill>
                  <a:srgbClr val="0B1220"/>
                </a:solidFill>
              </a:rPr>
              <a:t>Deploy
Vercel + Railway/Render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12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6" name="Rounded Rectangle 15">
            <a:hlinkClick r:id="rId4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389120" y="137160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12848" y="4617720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3154679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466344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274320" y="-219456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Kesiapan Artefak untuk Diuji Dosen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Artefak disusun mengikuti struktur Google Drive UAS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80160"/>
            <a:ext cx="1874519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1">
                <a:solidFill>
                  <a:srgbClr val="0B1220"/>
                </a:solidFill>
              </a:rPr>
              <a:t>Paper
11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280160"/>
            <a:ext cx="1874519" cy="9144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1">
                <a:solidFill>
                  <a:srgbClr val="0B1220"/>
                </a:solidFill>
              </a:rPr>
              <a:t>Mapping
XLSX + 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1280160"/>
            <a:ext cx="1874519" cy="91440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1">
                <a:solidFill>
                  <a:srgbClr val="0B1220"/>
                </a:solidFill>
              </a:rPr>
              <a:t>Gap/Novelty
MD + DOCX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7224" y="1280160"/>
            <a:ext cx="1874519" cy="91440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1">
                <a:solidFill>
                  <a:srgbClr val="0B1220"/>
                </a:solidFill>
              </a:rPr>
              <a:t>Source Code
Script + Notebook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11512" y="1280160"/>
            <a:ext cx="1874519" cy="91440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1">
                <a:solidFill>
                  <a:srgbClr val="0B1220"/>
                </a:solidFill>
              </a:rPr>
              <a:t>Model
PKL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880360"/>
            <a:ext cx="1874519" cy="91440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1">
                <a:solidFill>
                  <a:srgbClr val="0B1220"/>
                </a:solidFill>
              </a:rPr>
              <a:t>Eksperimen
JSON + CSV + PNG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8648" y="2880360"/>
            <a:ext cx="1874519" cy="9144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1">
                <a:solidFill>
                  <a:srgbClr val="0B1220"/>
                </a:solidFill>
              </a:rPr>
              <a:t>IEEE Draft
DOCX +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2936" y="2880360"/>
            <a:ext cx="1874519" cy="91440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1">
                <a:solidFill>
                  <a:srgbClr val="0B1220"/>
                </a:solidFill>
              </a:rPr>
              <a:t>Presentasi
PPTX +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2880360"/>
            <a:ext cx="1874519" cy="91440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1">
                <a:solidFill>
                  <a:srgbClr val="0B1220"/>
                </a:solidFill>
              </a:rPr>
              <a:t>Turnitin
Panduan cek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11512" y="2880360"/>
            <a:ext cx="1874519" cy="914400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1">
                <a:solidFill>
                  <a:srgbClr val="0B1220"/>
                </a:solidFill>
              </a:rPr>
              <a:t>Deployment
Next.js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13</a:t>
            </a:r>
          </a:p>
        </p:txBody>
      </p:sp>
      <p:sp>
        <p:nvSpPr>
          <p:cNvPr id="20" name="Rounded Rectangle 19">
            <a:hlinkClick r:id="rId2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21" name="Rounded Rectangle 20">
            <a:hlinkClick r:id="rId3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  <p:sp>
        <p:nvSpPr>
          <p:cNvPr id="22" name="Rounded Rectangle 21">
            <a:hlinkClick r:id="rId4" action="ppaction://hlinksldjump"/>
          </p:cNvPr>
          <p:cNvSpPr/>
          <p:nvPr/>
        </p:nvSpPr>
        <p:spPr>
          <a:xfrm>
            <a:off x="11128248" y="6355080"/>
            <a:ext cx="621792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0B1220"/>
                </a:solidFill>
              </a:rPr>
              <a:t>NEXT</a:t>
            </a: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754880" y="1645919"/>
            <a:ext cx="1371600" cy="1371600"/>
          </a:xfrm>
          <a:prstGeom prst="ellipse">
            <a:avLst/>
          </a:prstGeom>
          <a:solidFill>
            <a:srgbClr val="38BD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66560" y="3154679"/>
            <a:ext cx="1371600" cy="137160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4663440"/>
            <a:ext cx="1371600" cy="1371600"/>
          </a:xfrm>
          <a:prstGeom prst="ellipse">
            <a:avLst/>
          </a:prstGeom>
          <a:solidFill>
            <a:srgbClr val="A78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20" y="137160"/>
            <a:ext cx="1371600" cy="1371600"/>
          </a:xfrm>
          <a:prstGeom prst="ellipse">
            <a:avLst/>
          </a:prstGeom>
          <a:solidFill>
            <a:srgbClr val="FBBF2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71600" y="1645919"/>
            <a:ext cx="1371600" cy="1371600"/>
          </a:xfrm>
          <a:prstGeom prst="ellipse">
            <a:avLst/>
          </a:prstGeom>
          <a:solidFill>
            <a:srgbClr val="FB71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8FAFC"/>
                </a:solidFill>
              </a:rPr>
              <a:t>Kesimpulan dan Arah Pengembangan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7498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94A3B8"/>
                </a:solidFill>
              </a:rPr>
              <a:t>NetGuard AI layak sebagai proyek AI edukatif dan dapat ditingkatkan untuk riset/deployment lebih kuat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143000"/>
            <a:ext cx="2103120" cy="43891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50" b="1">
                <a:solidFill>
                  <a:srgbClr val="0B1220"/>
                </a:solidFill>
              </a:rPr>
              <a:t>Kesimpulan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115568"/>
            <a:ext cx="7772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0">
                <a:solidFill>
                  <a:srgbClr val="F8FAFC"/>
                </a:solidFill>
              </a:rPr>
              <a:t>Pipeline ML, evaluasi, prediksi, dashboard, dan artefak penelitian sudah terintegrasi.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86000"/>
            <a:ext cx="2103120" cy="438912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50" b="1">
                <a:solidFill>
                  <a:srgbClr val="0B1220"/>
                </a:solidFill>
              </a:rPr>
              <a:t>Keterbatasan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258568"/>
            <a:ext cx="7772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0">
                <a:solidFill>
                  <a:srgbClr val="F8FAFC"/>
                </a:solidFill>
              </a:rPr>
              <a:t>Smoke test kecil; eksperimen final wajib memakai subset CICIDS2017 yang lebih besar.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29000"/>
            <a:ext cx="2103120" cy="438912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50" b="1">
                <a:solidFill>
                  <a:srgbClr val="0B1220"/>
                </a:solidFill>
              </a:rPr>
              <a:t>Next Research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3401568"/>
            <a:ext cx="7772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0">
                <a:solidFill>
                  <a:srgbClr val="F8FAFC"/>
                </a:solidFill>
              </a:rPr>
              <a:t>Cross-validation, hyperparameter tuning, XGBoost/LightGBM, UNSW-NB15, dan deployment cloud.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72000"/>
            <a:ext cx="2103120" cy="438912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350" b="1">
                <a:solidFill>
                  <a:srgbClr val="0B1220"/>
                </a:solidFill>
              </a:rPr>
              <a:t>Defense Message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544568"/>
            <a:ext cx="7772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20" b="0">
                <a:solidFill>
                  <a:srgbClr val="F8FAFC"/>
                </a:solidFill>
              </a:rPr>
              <a:t>Nilai utama proyek: low-budget, reproducible, dan mudah dijelaskan sebagai jembatan AI + networking.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94A3B8"/>
                </a:solidFill>
              </a:rPr>
              <a:t>NetGuard AI | Achmad Maulana 241730016 | 14</a:t>
            </a:r>
          </a:p>
        </p:txBody>
      </p:sp>
      <p:sp>
        <p:nvSpPr>
          <p:cNvPr id="18" name="Rounded Rectangle 17">
            <a:hlinkClick r:id="rId2" action="ppaction://hlinksldjump"/>
          </p:cNvPr>
          <p:cNvSpPr/>
          <p:nvPr/>
        </p:nvSpPr>
        <p:spPr>
          <a:xfrm>
            <a:off x="9692640" y="6355080"/>
            <a:ext cx="685800" cy="25603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HOME</a:t>
            </a:r>
          </a:p>
        </p:txBody>
      </p:sp>
      <p:sp>
        <p:nvSpPr>
          <p:cNvPr id="19" name="Rounded Rectangle 18">
            <a:hlinkClick r:id="rId3" action="ppaction://hlinksldjump"/>
          </p:cNvPr>
          <p:cNvSpPr/>
          <p:nvPr/>
        </p:nvSpPr>
        <p:spPr>
          <a:xfrm>
            <a:off x="10442448" y="6355080"/>
            <a:ext cx="621792" cy="256032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800" b="1">
                <a:solidFill>
                  <a:srgbClr val="F8FAFC"/>
                </a:solidFill>
              </a:rPr>
              <a:t>PREV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935</Words>
  <Application>Microsoft Office PowerPoint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 asus</cp:lastModifiedBy>
  <cp:revision>2</cp:revision>
  <dcterms:created xsi:type="dcterms:W3CDTF">2013-01-27T09:14:16Z</dcterms:created>
  <dcterms:modified xsi:type="dcterms:W3CDTF">2026-06-14T19:44:43Z</dcterms:modified>
  <cp:category/>
</cp:coreProperties>
</file>