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11.xml"/><Relationship Id="rId7" Type="http://schemas.openxmlformats.org/officeDocument/2006/relationships/slide" Target="slide13.xml"/><Relationship Id="rId8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5.xml"/><Relationship Id="rId5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Relationship Id="rId4" Type="http://schemas.openxmlformats.org/officeDocument/2006/relationships/slide" Target="slide6.xml"/><Relationship Id="rId5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Relationship Id="rId4" Type="http://schemas.openxmlformats.org/officeDocument/2006/relationships/slide" Target="slide7.xml"/><Relationship Id="rId5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2.xml"/><Relationship Id="rId4" Type="http://schemas.openxmlformats.org/officeDocument/2006/relationships/slide" Target="slide9.xml"/><Relationship Id="rId5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0.xml"/><Relationship Id="rId4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slide" Target="slide11.xml"/><Relationship Id="rId5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2.xml"/><Relationship Id="rId4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1168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336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5212080" cy="7772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3300" b="1">
                <a:solidFill>
                  <a:srgbClr val="0B1220"/>
                </a:solidFill>
              </a:rPr>
              <a:t>NETGUARD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Predictive Network Failure &amp; Anomaly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AI-based Network Anomaly Detection | UAS Artificial Intelligence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22860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F8FAFC"/>
                </a:solidFill>
              </a:rPr>
              <a:t>Achmad Maulana
241730016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965960"/>
            <a:ext cx="2971800" cy="68580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8FAFC"/>
                </a:solidFill>
              </a:rPr>
              <a:t>Informatika
UIN Sultan Maulana Hasanuddin Banten</a:t>
            </a:r>
          </a:p>
        </p:txBody>
      </p:sp>
      <p:pic>
        <p:nvPicPr>
          <p:cNvPr id="12" name="Picture 11" descr="research_pipeline_dia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777240" y="2880360"/>
            <a:ext cx="10698480" cy="2788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01</a:t>
            </a:r>
          </a:p>
        </p:txBody>
      </p:sp>
      <p:sp>
        <p:nvSpPr>
          <p:cNvPr id="14" name="Rounded Rectangle 13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5" name="Rounded Rectangle 14">
            <a:hlinkClick action="ppaction://hlinksldjump" ns2:id="rId3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7744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8912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Agenda: Dari Gap ke Demo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Klik tombol untuk lompat ke bagian penting presentasi</a:t>
            </a:r>
          </a:p>
        </p:txBody>
      </p:sp>
      <p:sp>
        <p:nvSpPr>
          <p:cNvPr id="9" name="Rounded Rectangle 8">
            <a:hlinkClick action="ppaction://hlinksldjump" ns2:id="rId2"/>
          </p:cNvPr>
          <p:cNvSpPr/>
          <p:nvPr/>
        </p:nvSpPr>
        <p:spPr>
          <a:xfrm>
            <a:off x="777240" y="1417320"/>
            <a:ext cx="3063240" cy="132588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1
Problem</a:t>
            </a:r>
          </a:p>
        </p:txBody>
      </p:sp>
      <p:sp>
        <p:nvSpPr>
          <p:cNvPr id="10" name="Rounded Rectangle 9">
            <a:hlinkClick action="ppaction://hlinksldjump" ns2:id="rId3"/>
          </p:cNvPr>
          <p:cNvSpPr/>
          <p:nvPr/>
        </p:nvSpPr>
        <p:spPr>
          <a:xfrm>
            <a:off x="4480559" y="1417320"/>
            <a:ext cx="3063240" cy="132588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2
Research Gap</a:t>
            </a:r>
          </a:p>
        </p:txBody>
      </p:sp>
      <p:sp>
        <p:nvSpPr>
          <p:cNvPr id="11" name="Rounded Rectangle 10">
            <a:hlinkClick action="ppaction://hlinksldjump" ns2:id="rId4"/>
          </p:cNvPr>
          <p:cNvSpPr/>
          <p:nvPr/>
        </p:nvSpPr>
        <p:spPr>
          <a:xfrm>
            <a:off x="8183879" y="1417320"/>
            <a:ext cx="3063240" cy="132588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3
Method</a:t>
            </a:r>
          </a:p>
        </p:txBody>
      </p:sp>
      <p:sp>
        <p:nvSpPr>
          <p:cNvPr id="12" name="Rounded Rectangle 11">
            <a:hlinkClick action="ppaction://hlinksldjump" ns2:id="rId5"/>
          </p:cNvPr>
          <p:cNvSpPr/>
          <p:nvPr/>
        </p:nvSpPr>
        <p:spPr>
          <a:xfrm>
            <a:off x="777240" y="3474720"/>
            <a:ext cx="3063240" cy="13258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4
Experiment</a:t>
            </a:r>
          </a:p>
        </p:txBody>
      </p:sp>
      <p:sp>
        <p:nvSpPr>
          <p:cNvPr id="13" name="Rounded Rectangle 12">
            <a:hlinkClick action="ppaction://hlinksldjump" ns2:id="rId6"/>
          </p:cNvPr>
          <p:cNvSpPr/>
          <p:nvPr/>
        </p:nvSpPr>
        <p:spPr>
          <a:xfrm>
            <a:off x="4480559" y="3474720"/>
            <a:ext cx="3063240" cy="132588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5
Dashboard</a:t>
            </a:r>
          </a:p>
        </p:txBody>
      </p:sp>
      <p:sp>
        <p:nvSpPr>
          <p:cNvPr id="14" name="Rounded Rectangle 13">
            <a:hlinkClick action="ppaction://hlinksldjump" ns2:id="rId7"/>
          </p:cNvPr>
          <p:cNvSpPr/>
          <p:nvPr/>
        </p:nvSpPr>
        <p:spPr>
          <a:xfrm>
            <a:off x="8183879" y="3474720"/>
            <a:ext cx="3063240" cy="132588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6
Defense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623560"/>
            <a:ext cx="98755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8FAFC"/>
                </a:solidFill>
              </a:rPr>
              <a:t>Navigasi interaktif aktif: setiap tombol agenda mengarah ke slide terkait.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02</a:t>
            </a:r>
          </a:p>
        </p:txBody>
      </p:sp>
      <p:sp>
        <p:nvSpPr>
          <p:cNvPr id="17" name="Rounded Rectangle 16">
            <a:hlinkClick action="ppaction://hlinksldjump" ns2:id="rId8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8" name="Rounded Rectangle 17">
            <a:hlinkClick action="ppaction://hlinksldjump" ns2:id="rId9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9" name="Rounded Rectangle 18">
            <a:hlinkClick action="ppaction://hlinksldjump" ns2:id="rId2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wipe dir="r"/>
  </p:transition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54880" y="13716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6656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Masalah: Admin Jaringan Butuh Deteksi Cepat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Traffic abnormal sulit terlihat jika hanya mengandalkan inspeksi manual log router/firewall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017520" cy="41148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B1220"/>
                </a:solidFill>
              </a:rPr>
              <a:t>Volume traffic naik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23444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0">
                <a:solidFill>
                  <a:srgbClr val="F8FAFC"/>
                </a:solidFill>
              </a:rPr>
              <a:t>Log cepat menumpuk dan sulit dibaca manual.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3017520" cy="41148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B1220"/>
                </a:solidFill>
              </a:rPr>
              <a:t>Serangan makin variatif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28600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0">
                <a:solidFill>
                  <a:srgbClr val="F8FAFC"/>
                </a:solidFill>
              </a:rPr>
              <a:t>DoS, PortScan, Botnet, Brute Force memiliki pola berbeda.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3017520" cy="4114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B1220"/>
                </a:solidFill>
              </a:rPr>
              <a:t>Resource mahasiswa terbatas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33756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0">
                <a:solidFill>
                  <a:srgbClr val="F8FAFC"/>
                </a:solidFill>
              </a:rPr>
              <a:t>Laptop biasa, tanpa GPU dan tanpa API berbayar.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3017520" cy="41148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B1220"/>
                </a:solidFill>
              </a:rPr>
              <a:t>Hasil riset perlu bukti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438912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0">
                <a:solidFill>
                  <a:srgbClr val="F8FAFC"/>
                </a:solidFill>
              </a:rPr>
              <a:t>Butuh metrik, artefak, dan dashboard demo.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03</a:t>
            </a:r>
          </a:p>
        </p:txBody>
      </p:sp>
      <p:sp>
        <p:nvSpPr>
          <p:cNvPr id="18" name="Rounded Rectangle 17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9" name="Rounded Rectangle 18">
            <a:hlinkClick action="ppaction://hlinksldjump" ns2:id="rId2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20" name="Rounded Rectangle 19">
            <a:hlinkClick action="ppaction://hlinksldjump" ns2:id="rId3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split orient="horz" dir="out"/>
  </p:transition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13716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2064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Research Gap yang Diambil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Gap diambil dari pola literatur: model akurat sering belum dikemas menjadi monitoring edukatif ringan</a:t>
            </a:r>
          </a:p>
        </p:txBody>
      </p:sp>
      <p:pic>
        <p:nvPicPr>
          <p:cNvPr id="9" name="Picture 8" descr="deployment_architecture_dia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94360" y="1143000"/>
            <a:ext cx="6629400" cy="2788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097280"/>
            <a:ext cx="3886200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1: Banyak paper fokus metrik, bukan dashboard yang langsung dipahami admin pemula.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874519"/>
            <a:ext cx="3886200" cy="5029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2: Implementasi sering berat untuk mahasiswa/laptop biasa.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651760"/>
            <a:ext cx="3886200" cy="50292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3: Risk score dan rekomendasi aksi belum selalu terintegrasi.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29000"/>
            <a:ext cx="3886200" cy="50292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4: Artefak reproduksi sering tidak lengkap.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04</a:t>
            </a:r>
          </a:p>
        </p:txBody>
      </p:sp>
      <p:sp>
        <p:nvSpPr>
          <p:cNvPr id="15" name="Rounded Rectangle 14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6304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72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Novelty: ML + Dashboard Edukatif + Risk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Kebaruan utama bukan sekadar algoritma, tetapi integrasi pipeline penelitian menjadi alat demo yang dapat direproduksi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71600"/>
            <a:ext cx="2468880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Main Novelty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98448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0">
                <a:solidFill>
                  <a:srgbClr val="F8FAFC"/>
                </a:solidFill>
              </a:rPr>
              <a:t>Integrasi anomaly detection berbasis machine learning dengan dashboard monitoring edukatif yang ringan.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2468880" cy="5029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Secondary Novelty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715768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0">
                <a:solidFill>
                  <a:srgbClr val="F8FAFC"/>
                </a:solidFill>
              </a:rPr>
              <a:t>Risk classification otomatis Low/Medium/High dengan rekomendasi tindakan praktis.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06240"/>
            <a:ext cx="2468880" cy="5029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Educational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133087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0">
                <a:solidFill>
                  <a:srgbClr val="F8FAFC"/>
                </a:solidFill>
              </a:rPr>
              <a:t>Cocok untuk mahasiswa TKJ/Informatika yang ingin memahami AI dan jaringan secara implementatif.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05</a:t>
            </a:r>
          </a:p>
        </p:txBody>
      </p:sp>
      <p:sp>
        <p:nvSpPr>
          <p:cNvPr id="16" name="Rounded Rectangle 15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7" name="Rounded Rectangle 16">
            <a:hlinkClick action="ppaction://hlinksldjump" ns2:id="rId3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8" name="Rounded Rectangle 17">
            <a:hlinkClick action="ppaction://hlinksldjump" ns2:id="rId4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4048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Research Method: Pipeline NetGuard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RM1 implementasi model ML; RM2 integrasi hasil ke dashboard dan artefak riset</a:t>
            </a:r>
          </a:p>
        </p:txBody>
      </p:sp>
      <p:pic>
        <p:nvPicPr>
          <p:cNvPr id="9" name="Picture 8" descr="research_pipeline_dia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94360" y="1143000"/>
            <a:ext cx="1097280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4709160"/>
            <a:ext cx="521208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B1220"/>
                </a:solidFill>
              </a:rPr>
              <a:t>RM1: Membangun dan membandingkan Logistic Regression, Decision Tree, dan Random Forest pada data CICIDS2017-style.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709160"/>
            <a:ext cx="5212080" cy="7315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B1220"/>
                </a:solidFill>
              </a:rPr>
              <a:t>RM2: Mengintegrasikan model terbaik ke dashboard Flask dengan risk score dan rekomendasi tindakan.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06</a:t>
            </a:r>
          </a:p>
        </p:txBody>
      </p:sp>
      <p:sp>
        <p:nvSpPr>
          <p:cNvPr id="13" name="Rounded Rectangle 12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4" name="Rounded Rectangle 13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5" name="Rounded Rectangle 14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wipe dir="r"/>
  </p:transition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19456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0624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13716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Dataset: CICIDS2017 Real Subset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Dataset resmi dari Canadian Institute for Cybersecurity, UNB; subset 20.000 record dipakai agar tetap low-budget</a:t>
            </a:r>
          </a:p>
        </p:txBody>
      </p:sp>
      <p:pic>
        <p:nvPicPr>
          <p:cNvPr id="9" name="Picture 8" descr="dataset_distribution_chart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85800" y="1234440"/>
            <a:ext cx="5715000" cy="33832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325880"/>
          <a:ext cx="47548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Aspek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Isi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Sumber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UNB CICIDS2017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Kelas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BENIGN vs DDoS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Raw subset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20.000 record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Processed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19.935 record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07</a:t>
            </a:r>
          </a:p>
        </p:txBody>
      </p:sp>
      <p:sp>
        <p:nvSpPr>
          <p:cNvPr id="12" name="Rounded Rectangle 11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3" name="Rounded Rectangle 12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4" name="Rounded Rectangle 13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split orient="horz" dir="out"/>
  </p:transition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Eksperimen: Tiga Model Pembanding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Best model dipilih dengan prioritas F1-score, lalu Recall, lalu Accuracy</a:t>
            </a:r>
          </a:p>
        </p:txBody>
      </p:sp>
      <p:pic>
        <p:nvPicPr>
          <p:cNvPr id="9" name="Picture 8" descr="model_comparison_chart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94360" y="1143000"/>
            <a:ext cx="6766560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234440"/>
            <a:ext cx="3566160" cy="77724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Logistic Regression
F1 0.99 | Recall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468880"/>
            <a:ext cx="3566160" cy="7772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Decision Tree
F1 1.00 | Recall 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03320"/>
            <a:ext cx="3566160" cy="77724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Random Forest
F1 1.00 | Recall 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08</a:t>
            </a:r>
          </a:p>
        </p:txBody>
      </p:sp>
      <p:sp>
        <p:nvSpPr>
          <p:cNvPr id="14" name="Rounded Rectangle 13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5" name="Rounded Rectangle 14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6" name="Rounded Rectangle 15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2608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3776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Confusion Matrix sebagai Bukti Evaluasi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Evaluasi tidak hanya angka tunggal; matrix menunjukkan benar-salah prediksi setiap kelas</a:t>
            </a:r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777240" y="1051560"/>
            <a:ext cx="566928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143000"/>
            <a:ext cx="4251960" cy="694944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50" b="1">
                <a:solidFill>
                  <a:srgbClr val="0B1220"/>
                </a:solidFill>
              </a:rPr>
              <a:t>True Normal
Traffic normal diprediksi normal.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167128"/>
            <a:ext cx="4251960" cy="694944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50" b="1">
                <a:solidFill>
                  <a:srgbClr val="0B1220"/>
                </a:solidFill>
              </a:rPr>
              <a:t>False Alarm
Normal diprediksi anomaly.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191256"/>
            <a:ext cx="4251960" cy="694944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50" b="1">
                <a:solidFill>
                  <a:srgbClr val="0B1220"/>
                </a:solidFill>
              </a:rPr>
              <a:t>Missed Attack
Anomaly diprediksi normal.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215384"/>
            <a:ext cx="4251960" cy="694944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50" b="1">
                <a:solidFill>
                  <a:srgbClr val="0B1220"/>
                </a:solidFill>
              </a:rPr>
              <a:t>True Anomaly
Traffic anomaly terdeteksi.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09</a:t>
            </a:r>
          </a:p>
        </p:txBody>
      </p:sp>
      <p:sp>
        <p:nvSpPr>
          <p:cNvPr id="15" name="Rounded Rectangle 14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Risk Score: Angka yang Bisa Ditindaklanjuti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Risk level dihitung dari anomaly ratio agar hasil model mudah dipakai admin jaringan pemula</a:t>
            </a:r>
          </a:p>
        </p:txBody>
      </p:sp>
      <p:pic>
        <p:nvPicPr>
          <p:cNvPr id="9" name="Picture 8" descr="risk_score_gauge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777240" y="1143000"/>
            <a:ext cx="5760720" cy="33832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325880"/>
          <a:ext cx="4983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</a:tblGrid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Aturan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Aksi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&lt; 10%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Continue monitoring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10-30%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Inspect sources and firewall logs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&gt;= 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Investigate and isolate suspicious hosts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10</a:t>
            </a:r>
          </a:p>
        </p:txBody>
      </p:sp>
      <p:sp>
        <p:nvSpPr>
          <p:cNvPr id="12" name="Rounded Rectangle 11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3" name="Rounded Rectangle 12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4" name="Rounded Rectangle 13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wipe dir="r"/>
  </p:transition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13716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Dashboard Demo: Monitoring Tanpa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Flask membaca metrics.json dan CSV hasil eksperimen agar ringan untuk laptop mahasiswa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063240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19,935
Total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34440"/>
            <a:ext cx="3063240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9,935
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34440"/>
            <a:ext cx="3063240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10,000
Anomaly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3063240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0.9992
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560320"/>
            <a:ext cx="3063240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Decision Tree
Best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560320"/>
            <a:ext cx="3063240" cy="91440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High
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10241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F8FAFC"/>
                </a:solidFill>
              </a:rPr>
              <a:t>Workflow demo: Upload Dataset -&gt; Train Model -&gt; Predict New Data -&gt; View Research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11</a:t>
            </a:r>
          </a:p>
        </p:txBody>
      </p:sp>
      <p:sp>
        <p:nvSpPr>
          <p:cNvPr id="17" name="Rounded Rectangle 16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8" name="Rounded Rectangle 17">
            <a:hlinkClick action="ppaction://hlinksldjump" ns2:id="rId3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9" name="Rounded Rectangle 18">
            <a:hlinkClick action="ppaction://hlinksldjump" ns2:id="rId4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split orient="horz" dir="out"/>
  </p:transition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02336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0" y="13716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Deployment Plan: Low-Budget ke Premium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Flask tetap menjadi demo utama; Next.js/Tailwind/Framer disiapkan untuk bukti bonus deployment modern</a:t>
            </a:r>
          </a:p>
        </p:txBody>
      </p:sp>
      <p:pic>
        <p:nvPicPr>
          <p:cNvPr id="9" name="Picture 8" descr="deployment_architecture_dia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94360" y="1097280"/>
            <a:ext cx="658368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143000"/>
            <a:ext cx="3794760" cy="56692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50" b="1">
                <a:solidFill>
                  <a:srgbClr val="0B1220"/>
                </a:solidFill>
              </a:rPr>
              <a:t>Frontend
Next.js + Tailwind + Framer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011680"/>
            <a:ext cx="3794760" cy="566928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50" b="1">
                <a:solidFill>
                  <a:srgbClr val="0B1220"/>
                </a:solidFill>
              </a:rPr>
              <a:t>Backend
Flask sekarang, REST API future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80360"/>
            <a:ext cx="3794760" cy="566928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50" b="1">
                <a:solidFill>
                  <a:srgbClr val="0B1220"/>
                </a:solidFill>
              </a:rPr>
              <a:t>Database
PostgreSQL + Prisma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749039"/>
            <a:ext cx="3794760" cy="566928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50" b="1">
                <a:solidFill>
                  <a:srgbClr val="0B1220"/>
                </a:solidFill>
              </a:rPr>
              <a:t>Deploy
Vercel + Railway/Render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12</a:t>
            </a:r>
          </a:p>
        </p:txBody>
      </p:sp>
      <p:sp>
        <p:nvSpPr>
          <p:cNvPr id="15" name="Rounded Rectangle 14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Kesiapan Artefak untuk Diuji Dosen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Artefak disusun mengikuti struktur Google Drive UAS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80160"/>
            <a:ext cx="1874519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Paper
11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280160"/>
            <a:ext cx="1874519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Mapping
XLSX + 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280160"/>
            <a:ext cx="1874519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Gap/Novelty
MD + DOCX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7224" y="1280160"/>
            <a:ext cx="1874519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Source Code
Script + 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11512" y="1280160"/>
            <a:ext cx="1874519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Model
PKL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80360"/>
            <a:ext cx="1874519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Eksperimen
JSON + CSV + PNG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2880360"/>
            <a:ext cx="1874519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IEEE Draft
DOCX +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2880360"/>
            <a:ext cx="1874519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Presentasi
PPTX +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2880360"/>
            <a:ext cx="1874519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Turnitin
Panduan cek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2" y="2880360"/>
            <a:ext cx="1874519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Deployment
Next.js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13</a:t>
            </a:r>
          </a:p>
        </p:txBody>
      </p:sp>
      <p:sp>
        <p:nvSpPr>
          <p:cNvPr id="20" name="Rounded Rectangle 19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21" name="Rounded Rectangle 20">
            <a:hlinkClick action="ppaction://hlinksldjump" ns2:id="rId3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22" name="Rounded Rectangle 21">
            <a:hlinkClick action="ppaction://hlinksldjump" ns2:id="rId4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Kesimpulan dan Arah Pengembangan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NetGuard AI layak sebagai proyek AI edukatif dan dapat ditingkatkan untuk riset/deployment lebih kuat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143000"/>
            <a:ext cx="2103120" cy="43891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50" b="1">
                <a:solidFill>
                  <a:srgbClr val="0B1220"/>
                </a:solidFill>
              </a:rPr>
              <a:t>Kesimpulan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115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0">
                <a:solidFill>
                  <a:srgbClr val="F8FAFC"/>
                </a:solidFill>
              </a:rPr>
              <a:t>Pipeline ML, evaluasi, prediksi, dashboard, dan artefak penelitian sudah terintegrasi.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86000"/>
            <a:ext cx="2103120" cy="438912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50" b="1">
                <a:solidFill>
                  <a:srgbClr val="0B1220"/>
                </a:solidFill>
              </a:rPr>
              <a:t>Keterbatasan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258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0">
                <a:solidFill>
                  <a:srgbClr val="F8FAFC"/>
                </a:solidFill>
              </a:rPr>
              <a:t>Smoke test kecil; eksperimen final wajib memakai subset CICIDS2017 yang lebih besar.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2103120" cy="43891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50" b="1">
                <a:solidFill>
                  <a:srgbClr val="0B1220"/>
                </a:solidFill>
              </a:rPr>
              <a:t>Next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401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0">
                <a:solidFill>
                  <a:srgbClr val="F8FAFC"/>
                </a:solidFill>
              </a:rPr>
              <a:t>Cross-validation, hyperparameter tuning, XGBoost/LightGBM, UNSW-NB15, dan deployment cloud.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72000"/>
            <a:ext cx="2103120" cy="438912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50" b="1">
                <a:solidFill>
                  <a:srgbClr val="0B1220"/>
                </a:solidFill>
              </a:rPr>
              <a:t>Defense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544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0">
                <a:solidFill>
                  <a:srgbClr val="F8FAFC"/>
                </a:solidFill>
              </a:rPr>
              <a:t>Nilai utama proyek: low-budget, reproducible, dan mudah dijelaskan sebagai jembatan AI + networking.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14</a:t>
            </a:r>
          </a:p>
        </p:txBody>
      </p:sp>
      <p:sp>
        <p:nvSpPr>
          <p:cNvPr id="18" name="Rounded Rectangle 17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9" name="Rounded Rectangle 18">
            <a:hlinkClick action="ppaction://hlinksldjump" ns2:id="rId3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</p:spTree>
  </p:cSld>
  <p:transition spd="med">
    <p:wipe dir="r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Achmad Maulana</dc:creator>
  <cp:keywords/>
  <dc:description/>
  <cp:lastModifiedBy>Achmad Maulana</cp:lastModifiedBy>
  <cp:revision>1</cp:revision>
  <dcterms:created xsi:type="dcterms:W3CDTF">2013-01-27T09:14:16Z</dcterms:created>
  <dcterms:modified xsi:type="dcterms:W3CDTF">2013-01-27T09:15:58Z</dcterms:modified>
  <cp:category/>
</cp:coreProperties>
</file>